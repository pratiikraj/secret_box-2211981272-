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4"/>
  </p:notesMasterIdLst>
  <p:handoutMasterIdLst>
    <p:handoutMasterId r:id="rId15"/>
  </p:handoutMasterIdLst>
  <p:sldIdLst>
    <p:sldId id="256" r:id="rId5"/>
    <p:sldId id="257" r:id="rId6"/>
    <p:sldId id="269" r:id="rId7"/>
    <p:sldId id="270" r:id="rId8"/>
    <p:sldId id="271" r:id="rId9"/>
    <p:sldId id="272" r:id="rId10"/>
    <p:sldId id="274" r:id="rId11"/>
    <p:sldId id="273" r:id="rId12"/>
    <p:sldId id="268" r:id="rId13"/>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5/12/2026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5/12/2026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sz="2000"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4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3600" dirty="0">
                <a:latin typeface="Times New Roman" panose="02020603050405020304" pitchFamily="18" charset="0"/>
                <a:ea typeface="Calibri" panose="020F0502020204030204" pitchFamily="34" charset="0"/>
                <a:cs typeface="Times New Roman" panose="02020603050405020304" pitchFamily="18" charset="0"/>
              </a:rPr>
              <a:t>Secret Box – Anonymous</a:t>
            </a:r>
          </a:p>
          <a:p>
            <a:pPr algn="ctr">
              <a:lnSpc>
                <a:spcPct val="100000"/>
              </a:lnSpc>
              <a:spcBef>
                <a:spcPts val="400"/>
              </a:spcBef>
            </a:pPr>
            <a:r>
              <a:rPr lang="en-US" sz="3600" dirty="0">
                <a:latin typeface="Times New Roman" panose="02020603050405020304" pitchFamily="18" charset="0"/>
                <a:ea typeface="Calibri" panose="020F0502020204030204" pitchFamily="34" charset="0"/>
                <a:cs typeface="Times New Roman" panose="02020603050405020304" pitchFamily="18" charset="0"/>
              </a:rPr>
              <a:t>Messaging Platform</a:t>
            </a:r>
          </a:p>
          <a:p>
            <a:pPr algn="ctr">
              <a:lnSpc>
                <a:spcPct val="100000"/>
              </a:lnSpc>
              <a:spcBef>
                <a:spcPts val="400"/>
              </a:spcBef>
            </a:pPr>
            <a:endParaRPr lang="en-US" sz="14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Pratik Raj</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2211981272</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 :</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Dr. Preeti Saini</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MS PGothic"/>
                <a:cs typeface="Times New Roman" panose="02020603050405020304" pitchFamily="18" charset="0"/>
              </a:rPr>
              <a:t>Department of </a:t>
            </a:r>
            <a:r>
              <a:rPr lang="en-US" sz="20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0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53352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139700">
              <a:lnSpc>
                <a:spcPct val="150000"/>
              </a:lnSpc>
              <a:buClr>
                <a:srgbClr val="000000"/>
              </a:buClr>
              <a:buSzPts val="1400"/>
            </a:pPr>
            <a:r>
              <a:rPr lang="en-US" sz="2400" dirty="0">
                <a:solidFill>
                  <a:srgbClr val="000000"/>
                </a:solidFill>
                <a:latin typeface="Times New Roman" panose="02020603050405020304" pitchFamily="18" charset="0"/>
                <a:ea typeface="Times New Roman"/>
                <a:cs typeface="Times New Roman" panose="02020603050405020304" pitchFamily="18" charset="0"/>
              </a:rPr>
              <a:t>Secret Box is a privacy-first platform where users can receive anonymous messages through a unique link. Senders don’t need to log in, ensuring complete anonymity. Users can personalize their message page, manage the received messages, and get notifications for new messages — all while maintaining full control over their privacy.</a:t>
            </a:r>
            <a:endParaRPr lang="en-US" sz="2400" dirty="0">
              <a:latin typeface="Times New Roman" panose="02020603050405020304" pitchFamily="18" charset="0"/>
              <a:cs typeface="Times New Roman" panose="02020603050405020304" pitchFamily="18" charset="0"/>
            </a:endParaRPr>
          </a:p>
          <a:p>
            <a:pPr marL="139700" lvl="0">
              <a:buClr>
                <a:srgbClr val="000000"/>
              </a:buClr>
              <a:buSzPts val="1400"/>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2D139-315C-B863-108E-487B29840C07}"/>
              </a:ext>
            </a:extLst>
          </p:cNvPr>
          <p:cNvSpPr>
            <a:spLocks noGrp="1"/>
          </p:cNvSpPr>
          <p:nvPr>
            <p:ph type="title"/>
          </p:nvPr>
        </p:nvSpPr>
        <p:spPr>
          <a:xfrm>
            <a:off x="457200" y="0"/>
            <a:ext cx="5486040" cy="914040"/>
          </a:xfrm>
        </p:spPr>
        <p:txBody>
          <a:bodyPr/>
          <a:lstStyle/>
          <a:p>
            <a:pPr algn="ctr"/>
            <a:r>
              <a:rPr lang="en-IN" sz="3200" dirty="0">
                <a:latin typeface="Times New Roman" panose="02020603050405020304" pitchFamily="18" charset="0"/>
                <a:cs typeface="Times New Roman" panose="02020603050405020304" pitchFamily="18" charset="0"/>
              </a:rPr>
              <a:t>Survey</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0182424-ED6D-A838-350E-E001C6936D18}"/>
              </a:ext>
            </a:extLst>
          </p:cNvPr>
          <p:cNvSpPr txBox="1"/>
          <p:nvPr/>
        </p:nvSpPr>
        <p:spPr>
          <a:xfrm>
            <a:off x="292100" y="1041040"/>
            <a:ext cx="8229600" cy="6552050"/>
          </a:xfrm>
          <a:prstGeom prst="rect">
            <a:avLst/>
          </a:prstGeom>
          <a:noFill/>
        </p:spPr>
        <p:txBody>
          <a:bodyPr wrap="square">
            <a:spAutoFit/>
          </a:bodyPr>
          <a:lstStyle/>
          <a:p>
            <a:pPr marL="0" indent="0">
              <a:lnSpc>
                <a:spcPct val="150000"/>
              </a:lnSpc>
              <a:buNone/>
            </a:pPr>
            <a:r>
              <a:rPr lang="en-US" sz="2400" dirty="0">
                <a:solidFill>
                  <a:srgbClr val="000000"/>
                </a:solidFill>
                <a:latin typeface="Times New Roman" panose="02020603050405020304" pitchFamily="18" charset="0"/>
                <a:ea typeface="Times New Roman"/>
                <a:cs typeface="Times New Roman" panose="02020603050405020304" pitchFamily="18" charset="0"/>
              </a:rPr>
              <a:t>We gathered feedback from users across different backgrounds. Many shared that they feel uncomfortable sharing honest opinions on public or traceable platforms. A common concern was the fear of being judged or exposed. Users expressed the need for a space where they could communicate freely without worrying about privacy. They also wanted tools to control who could send them messages and how they manage these interactions.</a:t>
            </a:r>
          </a:p>
          <a:p>
            <a:pPr marL="0" indent="0">
              <a:lnSpc>
                <a:spcPct val="150000"/>
              </a:lnSpc>
              <a:buNone/>
            </a:pPr>
            <a:endParaRPr lang="en-US" dirty="0">
              <a:solidFill>
                <a:srgbClr val="000000"/>
              </a:solidFill>
              <a:latin typeface="Times New Roman" panose="02020603050405020304" pitchFamily="18" charset="0"/>
              <a:cs typeface="Times New Roman" panose="02020603050405020304" pitchFamily="18" charset="0"/>
            </a:endParaRPr>
          </a:p>
          <a:p>
            <a:pPr marL="0" indent="0">
              <a:lnSpc>
                <a:spcPct val="150000"/>
              </a:lnSpc>
              <a:buNone/>
            </a:pPr>
            <a:endParaRPr lang="en-US" sz="1800" dirty="0">
              <a:solidFill>
                <a:srgbClr val="000000"/>
              </a:solidFill>
              <a:latin typeface="Times New Roman" panose="02020603050405020304" pitchFamily="18" charset="0"/>
              <a:cs typeface="Times New Roman" panose="02020603050405020304" pitchFamily="18" charset="0"/>
            </a:endParaRPr>
          </a:p>
          <a:p>
            <a:pPr marL="0" indent="0">
              <a:lnSpc>
                <a:spcPct val="150000"/>
              </a:lnSpc>
              <a:buNone/>
            </a:pPr>
            <a:endParaRPr lang="en-US" dirty="0">
              <a:solidFill>
                <a:srgbClr val="000000"/>
              </a:solidFill>
              <a:latin typeface="Times New Roman" panose="02020603050405020304" pitchFamily="18" charset="0"/>
              <a:cs typeface="Times New Roman" panose="02020603050405020304" pitchFamily="18" charset="0"/>
            </a:endParaRPr>
          </a:p>
          <a:p>
            <a:pPr marL="0" indent="0">
              <a:lnSpc>
                <a:spcPct val="150000"/>
              </a:lnSpc>
              <a:buNone/>
            </a:pPr>
            <a:endParaRPr lang="en-US" sz="1800" dirty="0">
              <a:solidFill>
                <a:srgbClr val="000000"/>
              </a:solidFill>
              <a:latin typeface="Times New Roman" panose="02020603050405020304" pitchFamily="18" charset="0"/>
              <a:cs typeface="Times New Roman" panose="02020603050405020304" pitchFamily="18" charset="0"/>
            </a:endParaRPr>
          </a:p>
          <a:p>
            <a:pPr marL="0" indent="0">
              <a:lnSpc>
                <a:spcPct val="150000"/>
              </a:lnSpc>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4402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FFF49-CF9B-51AB-4B01-81AC8DC9D190}"/>
              </a:ext>
            </a:extLst>
          </p:cNvPr>
          <p:cNvSpPr>
            <a:spLocks noGrp="1"/>
          </p:cNvSpPr>
          <p:nvPr>
            <p:ph type="title"/>
          </p:nvPr>
        </p:nvSpPr>
        <p:spPr>
          <a:xfrm>
            <a:off x="693174" y="0"/>
            <a:ext cx="5486040" cy="914040"/>
          </a:xfrm>
        </p:spPr>
        <p:txBody>
          <a:bodyPr/>
          <a:lstStyle/>
          <a:p>
            <a:pPr algn="ctr"/>
            <a:r>
              <a:rPr lang="en-US" sz="3200" dirty="0">
                <a:latin typeface="Times New Roman" panose="02020603050405020304" pitchFamily="18" charset="0"/>
                <a:cs typeface="Times New Roman" panose="02020603050405020304" pitchFamily="18" charset="0"/>
              </a:rPr>
              <a:t>Problem Statement</a:t>
            </a: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A8CD68A-1B71-B35C-7773-DBD0E8458E34}"/>
              </a:ext>
            </a:extLst>
          </p:cNvPr>
          <p:cNvSpPr>
            <a:spLocks noGrp="1"/>
          </p:cNvSpPr>
          <p:nvPr>
            <p:ph type="subTitle"/>
          </p:nvPr>
        </p:nvSpPr>
        <p:spPr>
          <a:xfrm>
            <a:off x="342899" y="1857375"/>
            <a:ext cx="8277225" cy="3333390"/>
          </a:xfrm>
        </p:spPr>
        <p:txBody>
          <a:bodyPr/>
          <a:lstStyle/>
          <a:p>
            <a:pPr marL="0" indent="0">
              <a:lnSpc>
                <a:spcPct val="150000"/>
              </a:lnSpc>
              <a:buNone/>
            </a:pPr>
            <a:endParaRPr lang="en-US" sz="2200" dirty="0">
              <a:solidFill>
                <a:srgbClr val="000000"/>
              </a:solidFill>
              <a:latin typeface="Times New Roman" panose="02020603050405020304" pitchFamily="18" charset="0"/>
              <a:ea typeface="Times New Roman"/>
              <a:cs typeface="Times New Roman" panose="02020603050405020304" pitchFamily="18" charset="0"/>
            </a:endParaRPr>
          </a:p>
          <a:p>
            <a:pPr marL="0" indent="0">
              <a:lnSpc>
                <a:spcPct val="150000"/>
              </a:lnSpc>
              <a:buNone/>
            </a:pPr>
            <a:r>
              <a:rPr lang="en-US" sz="2200" dirty="0">
                <a:solidFill>
                  <a:srgbClr val="000000"/>
                </a:solidFill>
                <a:latin typeface="Times New Roman" panose="02020603050405020304" pitchFamily="18" charset="0"/>
                <a:ea typeface="Times New Roman"/>
                <a:cs typeface="Times New Roman" panose="02020603050405020304" pitchFamily="18" charset="0"/>
              </a:rPr>
              <a:t>In many online spaces, people are afraid to express their true thoughts, opinions, or confessions because they worry about being judged or identified. Most messaging platforms require users to sign up and share personal details, which discourages open communication. There is a need for a platform where people can share their feedback or feelings freely without compromising their identity or safety. At the same time, users want control over who can contact them and how their messages are managed. Secret Box addresses these challenges by offering a secure, anonymous messaging experience that prioritizes privacy and user empowerment.</a:t>
            </a:r>
            <a:endParaRPr lang="en-US" sz="2200" dirty="0">
              <a:latin typeface="Times New Roman" panose="02020603050405020304" pitchFamily="18" charset="0"/>
              <a:cs typeface="Times New Roman" panose="02020603050405020304" pitchFamily="18" charset="0"/>
            </a:endParaRPr>
          </a:p>
          <a:p>
            <a:pPr marL="0" indent="0">
              <a:lnSpc>
                <a:spcPct val="150000"/>
              </a:lnSpc>
              <a:buNone/>
            </a:pPr>
            <a:endParaRPr lang="en-IN" sz="2000" dirty="0"/>
          </a:p>
        </p:txBody>
      </p:sp>
    </p:spTree>
    <p:extLst>
      <p:ext uri="{BB962C8B-B14F-4D97-AF65-F5344CB8AC3E}">
        <p14:creationId xmlns:p14="http://schemas.microsoft.com/office/powerpoint/2010/main" val="2580772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ACA39-E189-85FB-3B7C-B08BC82D0106}"/>
              </a:ext>
            </a:extLst>
          </p:cNvPr>
          <p:cNvSpPr>
            <a:spLocks noGrp="1"/>
          </p:cNvSpPr>
          <p:nvPr>
            <p:ph type="title"/>
          </p:nvPr>
        </p:nvSpPr>
        <p:spPr>
          <a:xfrm>
            <a:off x="757084" y="0"/>
            <a:ext cx="5486040" cy="914040"/>
          </a:xfrm>
        </p:spPr>
        <p:txBody>
          <a:bodyPr/>
          <a:lstStyle/>
          <a:p>
            <a:pPr algn="ctr"/>
            <a:r>
              <a:rPr lang="en-US" sz="3200" dirty="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0D118E2-9107-55A1-C77D-3D12C8CB47BB}"/>
              </a:ext>
            </a:extLst>
          </p:cNvPr>
          <p:cNvSpPr>
            <a:spLocks noGrp="1"/>
          </p:cNvSpPr>
          <p:nvPr>
            <p:ph type="subTitle"/>
          </p:nvPr>
        </p:nvSpPr>
        <p:spPr>
          <a:xfrm>
            <a:off x="514350" y="2319337"/>
            <a:ext cx="8362950" cy="2219325"/>
          </a:xfrm>
        </p:spPr>
        <p:txBody>
          <a:bodyPr/>
          <a:lstStyle/>
          <a:p>
            <a:pPr marL="342900" indent="-342900" algn="just">
              <a:lnSpc>
                <a:spcPct val="150000"/>
              </a:lnSpc>
              <a:buFont typeface="Arial" panose="020B0604020202020204" pitchFamily="34" charset="0"/>
              <a:buChar char="•"/>
              <a:defRPr/>
            </a:pPr>
            <a:r>
              <a:rPr lang="en-US" sz="2200" dirty="0">
                <a:solidFill>
                  <a:srgbClr val="000000"/>
                </a:solidFill>
                <a:latin typeface="Times New Roman" panose="02020603050405020304" pitchFamily="18" charset="0"/>
                <a:ea typeface="Times New Roman"/>
                <a:cs typeface="Times New Roman" panose="02020603050405020304" pitchFamily="18" charset="0"/>
              </a:rPr>
              <a:t>Identified user privacy needs and communication gaps.</a:t>
            </a:r>
            <a:endParaRPr lang="en-US" sz="22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defRPr/>
            </a:pPr>
            <a:r>
              <a:rPr lang="en-US" sz="2200" dirty="0">
                <a:solidFill>
                  <a:srgbClr val="000000"/>
                </a:solidFill>
                <a:latin typeface="Times New Roman" panose="02020603050405020304" pitchFamily="18" charset="0"/>
                <a:ea typeface="Times New Roman"/>
                <a:cs typeface="Times New Roman" panose="02020603050405020304" pitchFamily="18" charset="0"/>
              </a:rPr>
              <a:t>Planned APIs, database structure, and user experience flows.</a:t>
            </a:r>
            <a:endParaRPr lang="en-US" sz="22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defRPr/>
            </a:pPr>
            <a:r>
              <a:rPr lang="en-US" sz="2200" dirty="0">
                <a:solidFill>
                  <a:srgbClr val="000000"/>
                </a:solidFill>
                <a:latin typeface="Times New Roman" panose="02020603050405020304" pitchFamily="18" charset="0"/>
                <a:ea typeface="Times New Roman"/>
                <a:cs typeface="Times New Roman" panose="02020603050405020304" pitchFamily="18" charset="0"/>
              </a:rPr>
              <a:t>Built frontend and backend with Next.js, integrating OTP and email notifications.</a:t>
            </a:r>
            <a:endParaRPr lang="en-US" sz="22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defRPr/>
            </a:pPr>
            <a:r>
              <a:rPr lang="en-US" sz="2200" dirty="0">
                <a:solidFill>
                  <a:srgbClr val="000000"/>
                </a:solidFill>
                <a:latin typeface="Times New Roman" panose="02020603050405020304" pitchFamily="18" charset="0"/>
                <a:ea typeface="Times New Roman"/>
                <a:cs typeface="Times New Roman" panose="02020603050405020304" pitchFamily="18" charset="0"/>
              </a:rPr>
              <a:t>Ensured functionality, performance, and security through rigorous testing.</a:t>
            </a:r>
            <a:endParaRPr lang="en-US" sz="22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defRPr/>
            </a:pPr>
            <a:r>
              <a:rPr lang="en-US" sz="2200" dirty="0">
                <a:solidFill>
                  <a:srgbClr val="000000"/>
                </a:solidFill>
                <a:latin typeface="Times New Roman" panose="02020603050405020304" pitchFamily="18" charset="0"/>
                <a:ea typeface="Times New Roman"/>
                <a:cs typeface="Times New Roman" panose="02020603050405020304" pitchFamily="18" charset="0"/>
              </a:rPr>
              <a:t>Hosted on scalable platforms like Vercel and AWS.</a:t>
            </a:r>
            <a:endParaRPr lang="en-US" sz="22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defRPr/>
            </a:pPr>
            <a:r>
              <a:rPr lang="en-US" sz="2200" dirty="0">
                <a:solidFill>
                  <a:srgbClr val="000000"/>
                </a:solidFill>
                <a:latin typeface="Times New Roman" panose="02020603050405020304" pitchFamily="18" charset="0"/>
                <a:ea typeface="Times New Roman"/>
                <a:cs typeface="Times New Roman" panose="02020603050405020304" pitchFamily="18" charset="0"/>
              </a:rPr>
              <a:t>Regular updates based on user feedback and monitoring.</a:t>
            </a:r>
            <a:endParaRPr lang="en-US" sz="22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defRPr/>
            </a:pPr>
            <a:r>
              <a:rPr lang="en-US" sz="2200" dirty="0">
                <a:solidFill>
                  <a:srgbClr val="000000"/>
                </a:solidFill>
                <a:latin typeface="Times New Roman" panose="02020603050405020304" pitchFamily="18" charset="0"/>
                <a:ea typeface="Times New Roman"/>
                <a:cs typeface="Times New Roman" panose="02020603050405020304" pitchFamily="18" charset="0"/>
              </a:rPr>
              <a:t>Documented the development process for future improvements and team collaboration.</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8656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D86EA-2EAF-78D6-E48E-FA3B2A0A5E4C}"/>
              </a:ext>
            </a:extLst>
          </p:cNvPr>
          <p:cNvSpPr>
            <a:spLocks noGrp="1"/>
          </p:cNvSpPr>
          <p:nvPr>
            <p:ph type="title"/>
          </p:nvPr>
        </p:nvSpPr>
        <p:spPr>
          <a:xfrm>
            <a:off x="737419" y="0"/>
            <a:ext cx="5486040" cy="914040"/>
          </a:xfrm>
        </p:spPr>
        <p:txBody>
          <a:bodyPr/>
          <a:lstStyle/>
          <a:p>
            <a:pPr algn="ctr"/>
            <a:r>
              <a:rPr lang="en-US" sz="3200" dirty="0">
                <a:latin typeface="Times New Roman" panose="02020603050405020304" pitchFamily="18" charset="0"/>
                <a:cs typeface="Times New Roman" panose="02020603050405020304" pitchFamily="18" charset="0"/>
              </a:rPr>
              <a:t>Features</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7534C43-C3F8-59A2-91DF-5EA59E2B5112}"/>
              </a:ext>
            </a:extLst>
          </p:cNvPr>
          <p:cNvSpPr>
            <a:spLocks noGrp="1"/>
          </p:cNvSpPr>
          <p:nvPr>
            <p:ph type="subTitle"/>
          </p:nvPr>
        </p:nvSpPr>
        <p:spPr>
          <a:xfrm>
            <a:off x="590550" y="3048180"/>
            <a:ext cx="8096250" cy="533220"/>
          </a:xfrm>
        </p:spPr>
        <p:txBody>
          <a:bodyPr/>
          <a:lstStyle/>
          <a:p>
            <a:pPr marL="342900" indent="-342900">
              <a:lnSpc>
                <a:spcPct val="150000"/>
              </a:lnSpc>
              <a:buFont typeface="Arial" panose="020B0604020202020204" pitchFamily="34" charset="0"/>
              <a:buChar char="•"/>
              <a:defRPr/>
            </a:pPr>
            <a:r>
              <a:rPr lang="en-US" sz="2200" dirty="0">
                <a:solidFill>
                  <a:srgbClr val="000000"/>
                </a:solidFill>
                <a:latin typeface="Times New Roman" panose="02020603050405020304" pitchFamily="18" charset="0"/>
                <a:ea typeface="Times New Roman"/>
                <a:cs typeface="Times New Roman" panose="02020603050405020304" pitchFamily="18" charset="0"/>
              </a:rPr>
              <a:t>Anonymous messages without signup</a:t>
            </a:r>
            <a:endParaRPr lang="en-US" sz="22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defRPr/>
            </a:pPr>
            <a:r>
              <a:rPr lang="en-US" sz="2200" dirty="0">
                <a:solidFill>
                  <a:srgbClr val="000000"/>
                </a:solidFill>
                <a:latin typeface="Times New Roman" panose="02020603050405020304" pitchFamily="18" charset="0"/>
                <a:ea typeface="Times New Roman"/>
                <a:cs typeface="Times New Roman" panose="02020603050405020304" pitchFamily="18" charset="0"/>
              </a:rPr>
              <a:t>Unique link to receive messages</a:t>
            </a:r>
            <a:endParaRPr lang="en-US" sz="22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defRPr/>
            </a:pPr>
            <a:r>
              <a:rPr lang="en-US" sz="2200" dirty="0">
                <a:solidFill>
                  <a:srgbClr val="000000"/>
                </a:solidFill>
                <a:latin typeface="Times New Roman" panose="02020603050405020304" pitchFamily="18" charset="0"/>
                <a:ea typeface="Times New Roman"/>
                <a:cs typeface="Times New Roman" panose="02020603050405020304" pitchFamily="18" charset="0"/>
              </a:rPr>
              <a:t>OTP-based secure login</a:t>
            </a:r>
            <a:endParaRPr lang="en-US" sz="22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defRPr/>
            </a:pPr>
            <a:r>
              <a:rPr lang="en-US" sz="2200" dirty="0">
                <a:solidFill>
                  <a:srgbClr val="000000"/>
                </a:solidFill>
                <a:latin typeface="Times New Roman" panose="02020603050405020304" pitchFamily="18" charset="0"/>
                <a:ea typeface="Times New Roman"/>
                <a:cs typeface="Times New Roman" panose="02020603050405020304" pitchFamily="18" charset="0"/>
              </a:rPr>
              <a:t>View, manage, and delete messages</a:t>
            </a:r>
            <a:endParaRPr lang="en-US" sz="22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defRPr/>
            </a:pPr>
            <a:r>
              <a:rPr lang="en-US" sz="2200" dirty="0">
                <a:solidFill>
                  <a:srgbClr val="000000"/>
                </a:solidFill>
                <a:latin typeface="Times New Roman" panose="02020603050405020304" pitchFamily="18" charset="0"/>
                <a:ea typeface="Times New Roman"/>
                <a:cs typeface="Times New Roman" panose="02020603050405020304" pitchFamily="18" charset="0"/>
              </a:rPr>
              <a:t>Inbox Management</a:t>
            </a:r>
            <a:endParaRPr lang="en-US" sz="22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defRPr/>
            </a:pPr>
            <a:r>
              <a:rPr lang="en-US" sz="2200" dirty="0">
                <a:solidFill>
                  <a:srgbClr val="000000"/>
                </a:solidFill>
                <a:latin typeface="Times New Roman" panose="02020603050405020304" pitchFamily="18" charset="0"/>
                <a:ea typeface="Times New Roman"/>
                <a:cs typeface="Times New Roman" panose="02020603050405020304" pitchFamily="18" charset="0"/>
              </a:rPr>
              <a:t>Profile Customization</a:t>
            </a:r>
            <a:endParaRPr lang="en-US" sz="22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defRPr/>
            </a:pPr>
            <a:r>
              <a:rPr lang="en-US" sz="2200" dirty="0">
                <a:solidFill>
                  <a:srgbClr val="000000"/>
                </a:solidFill>
                <a:latin typeface="Times New Roman" panose="02020603050405020304" pitchFamily="18" charset="0"/>
                <a:ea typeface="Times New Roman"/>
                <a:cs typeface="Times New Roman" panose="02020603050405020304" pitchFamily="18" charset="0"/>
              </a:rPr>
              <a:t>Encrypted passwords and secure sessions</a:t>
            </a:r>
          </a:p>
          <a:p>
            <a:pPr marL="342900" indent="-342900">
              <a:lnSpc>
                <a:spcPct val="150000"/>
              </a:lnSpc>
              <a:buFont typeface="Arial" panose="020B0604020202020204" pitchFamily="34" charset="0"/>
              <a:buChar char="•"/>
              <a:defRPr/>
            </a:pPr>
            <a:r>
              <a:rPr lang="en-US" sz="2200" dirty="0">
                <a:solidFill>
                  <a:srgbClr val="000000"/>
                </a:solidFill>
                <a:latin typeface="Times New Roman" panose="02020603050405020304" pitchFamily="18" charset="0"/>
                <a:cs typeface="Times New Roman" panose="02020603050405020304" pitchFamily="18" charset="0"/>
              </a:rPr>
              <a:t>Admin Dashboard</a:t>
            </a:r>
            <a:endParaRPr lang="en-US" sz="22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defRPr/>
            </a:pPr>
            <a:r>
              <a:rPr lang="en-US" sz="2200" dirty="0">
                <a:solidFill>
                  <a:srgbClr val="000000"/>
                </a:solidFill>
                <a:latin typeface="Times New Roman" panose="02020603050405020304" pitchFamily="18" charset="0"/>
                <a:ea typeface="Times New Roman"/>
                <a:cs typeface="Times New Roman" panose="02020603050405020304" pitchFamily="18" charset="0"/>
              </a:rPr>
              <a:t>Clean UI with responsive design with dark mode support</a:t>
            </a:r>
          </a:p>
        </p:txBody>
      </p:sp>
    </p:spTree>
    <p:extLst>
      <p:ext uri="{BB962C8B-B14F-4D97-AF65-F5344CB8AC3E}">
        <p14:creationId xmlns:p14="http://schemas.microsoft.com/office/powerpoint/2010/main" val="3753176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FCFBA-CEF4-0F46-7519-DD22CE6DD2E3}"/>
              </a:ext>
            </a:extLst>
          </p:cNvPr>
          <p:cNvSpPr>
            <a:spLocks noGrp="1"/>
          </p:cNvSpPr>
          <p:nvPr>
            <p:ph type="title"/>
          </p:nvPr>
        </p:nvSpPr>
        <p:spPr>
          <a:xfrm>
            <a:off x="698090" y="0"/>
            <a:ext cx="5486040" cy="914040"/>
          </a:xfrm>
        </p:spPr>
        <p:txBody>
          <a:bodyPr/>
          <a:lstStyle/>
          <a:p>
            <a:pPr algn="ctr"/>
            <a:r>
              <a:rPr lang="en-IN" sz="2800" dirty="0">
                <a:latin typeface="Times New Roman" panose="02020603050405020304" pitchFamily="18" charset="0"/>
                <a:cs typeface="Times New Roman" panose="02020603050405020304" pitchFamily="18" charset="0"/>
              </a:rPr>
              <a:t>System Architecture &amp; Tech Stack</a:t>
            </a:r>
          </a:p>
        </p:txBody>
      </p:sp>
      <p:pic>
        <p:nvPicPr>
          <p:cNvPr id="3" name="Picture 2">
            <a:extLst>
              <a:ext uri="{FF2B5EF4-FFF2-40B4-BE49-F238E27FC236}">
                <a16:creationId xmlns:a16="http://schemas.microsoft.com/office/drawing/2014/main" id="{A92A1074-D7D7-72BC-CBA7-163FEFBEDB6E}"/>
              </a:ext>
            </a:extLst>
          </p:cNvPr>
          <p:cNvPicPr>
            <a:picLocks noChangeAspect="1"/>
          </p:cNvPicPr>
          <p:nvPr/>
        </p:nvPicPr>
        <p:blipFill>
          <a:blip r:embed="rId2"/>
          <a:stretch>
            <a:fillRect/>
          </a:stretch>
        </p:blipFill>
        <p:spPr>
          <a:xfrm>
            <a:off x="360319" y="1926126"/>
            <a:ext cx="8428441" cy="2793961"/>
          </a:xfrm>
          <a:prstGeom prst="rect">
            <a:avLst/>
          </a:prstGeom>
        </p:spPr>
      </p:pic>
    </p:spTree>
    <p:extLst>
      <p:ext uri="{BB962C8B-B14F-4D97-AF65-F5344CB8AC3E}">
        <p14:creationId xmlns:p14="http://schemas.microsoft.com/office/powerpoint/2010/main" val="901125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A55A0-3C4A-D459-603C-460D58A7A466}"/>
              </a:ext>
            </a:extLst>
          </p:cNvPr>
          <p:cNvSpPr>
            <a:spLocks noGrp="1"/>
          </p:cNvSpPr>
          <p:nvPr>
            <p:ph type="title"/>
          </p:nvPr>
        </p:nvSpPr>
        <p:spPr>
          <a:xfrm>
            <a:off x="737419" y="0"/>
            <a:ext cx="5486040" cy="914040"/>
          </a:xfrm>
        </p:spPr>
        <p:txBody>
          <a:bodyPr/>
          <a:lstStyle/>
          <a:p>
            <a:pPr algn="ctr"/>
            <a:r>
              <a:rPr lang="en-US" sz="3600"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44F7D4A-E0ED-7B4E-FE1F-D4A751A305EA}"/>
              </a:ext>
            </a:extLst>
          </p:cNvPr>
          <p:cNvSpPr>
            <a:spLocks noGrp="1"/>
          </p:cNvSpPr>
          <p:nvPr>
            <p:ph type="subTitle"/>
          </p:nvPr>
        </p:nvSpPr>
        <p:spPr>
          <a:xfrm>
            <a:off x="447675" y="2438580"/>
            <a:ext cx="8248650" cy="1980840"/>
          </a:xfrm>
        </p:spPr>
        <p:txBody>
          <a:bodyPr/>
          <a:lstStyle/>
          <a:p>
            <a:pPr marL="0" indent="0">
              <a:lnSpc>
                <a:spcPct val="150000"/>
              </a:lnSpc>
              <a:buNone/>
            </a:pPr>
            <a:r>
              <a:rPr lang="en-US" sz="2400" dirty="0">
                <a:solidFill>
                  <a:srgbClr val="000000"/>
                </a:solidFill>
                <a:latin typeface="Times New Roman" panose="02020603050405020304" pitchFamily="18" charset="0"/>
                <a:ea typeface="Times New Roman"/>
                <a:cs typeface="Times New Roman" panose="02020603050405020304" pitchFamily="18" charset="0"/>
              </a:rPr>
              <a:t>Secret Box offers a safe space for people to communicate openly without fear of judgment or exposure. It empowers users to personalize their messaging experience while ensuring complete privacy and control. Based on user feedback, there is a clear demand for such a platform, and our approach ensures a secure, user-friendly solution that encourages honest and anonymous communication.</a:t>
            </a:r>
            <a:endParaRPr lang="en-US" sz="2400" dirty="0">
              <a:latin typeface="Times New Roman" panose="02020603050405020304" pitchFamily="18" charset="0"/>
              <a:cs typeface="Times New Roman" panose="02020603050405020304" pitchFamily="18" charset="0"/>
            </a:endParaRPr>
          </a:p>
          <a:p>
            <a:pPr marL="0" indent="0">
              <a:lnSpc>
                <a:spcPct val="150000"/>
              </a:lnSpc>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8513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34954</TotalTime>
  <Words>482</Words>
  <Application>Microsoft Office PowerPoint</Application>
  <PresentationFormat>On-screen Show (4:3)</PresentationFormat>
  <Paragraphs>61</Paragraphs>
  <Slides>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PowerPoint Presentation</vt:lpstr>
      <vt:lpstr>PowerPoint Presentation</vt:lpstr>
      <vt:lpstr>Survey</vt:lpstr>
      <vt:lpstr>Problem Statement</vt:lpstr>
      <vt:lpstr>Methodology</vt:lpstr>
      <vt:lpstr>Features</vt:lpstr>
      <vt:lpstr>System Architecture &amp; Tech Stack</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Pratik Raj</cp:lastModifiedBy>
  <cp:revision>2315</cp:revision>
  <dcterms:created xsi:type="dcterms:W3CDTF">2010-04-09T07:36:15Z</dcterms:created>
  <dcterms:modified xsi:type="dcterms:W3CDTF">2026-05-11T18:57:05Z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